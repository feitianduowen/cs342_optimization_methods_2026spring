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84" autoAdjust="0"/>
    <p:restoredTop sz="94660"/>
  </p:normalViewPr>
  <p:slideViewPr>
    <p:cSldViewPr snapToGrid="0">
      <p:cViewPr varScale="1">
        <p:scale>
          <a:sx n="84" d="100"/>
          <a:sy n="84" d="100"/>
        </p:scale>
        <p:origin x="80" y="3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5C9DF2-F5E0-4718-852D-27ED1E1128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C4DBDD7-FEF3-A25E-3E83-2971AC3FBF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1A5EDF-3136-96D8-0F5C-E3EA9CBC4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7F3DA-F092-41BF-8C2D-8608C53CD27F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508B88-2C39-8EDD-BC16-37C4BFC78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E3C300-C57F-E91A-5A02-6D824B6BC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064A4-3906-4B39-BDCD-7A05CA044E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9023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CD858F-CE98-46D5-0319-6D1C2FC09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EB5366-61F6-FFBD-9F50-7120EA802F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25E7EC-228B-212A-09D8-3FA16E002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7F3DA-F092-41BF-8C2D-8608C53CD27F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E51475-D747-FCEC-8A83-C3497649E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372EC9C-304F-3C7D-0F19-C4599E940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064A4-3906-4B39-BDCD-7A05CA044E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9639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6829D7-D25F-A494-3CB5-F098AABC4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5060370-54AB-7BA3-4847-C4F8660818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856EF3-B82B-306E-6543-26EFC3825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7F3DA-F092-41BF-8C2D-8608C53CD27F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AEE0E2-0B96-E41D-5FEB-0E0ED45CF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2A4462-C9E2-660D-9B5F-BE376E815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064A4-3906-4B39-BDCD-7A05CA044E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1956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64F07A-5C29-DB41-F4A1-3C481585D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3B4098D-370E-928E-AF44-E2D876B602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FC1CF3B-F790-2E5D-E9E1-41159D6BEF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9912A49-C0E1-DE80-A4AC-A29A79F77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7F3DA-F092-41BF-8C2D-8608C53CD27F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11859BF-ABDE-EAE7-4779-91590D65D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ABC2C62-420A-5474-03C1-A219F83F3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064A4-3906-4B39-BDCD-7A05CA044E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0324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9B76BC-2557-1265-E3E3-1A4F1FBB8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AE96BBA-0C1E-CEF5-A9F5-7D26AC77B2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F5D7790-C196-A41F-28EE-E8F57CED52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978FFFF-D943-CA54-AEDB-DB0F55F013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1CC9A85-E0DC-4815-D7A1-58263CC29B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7B6BADE-9288-F0CC-0736-48973DD40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7F3DA-F092-41BF-8C2D-8608C53CD27F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8A65FD2-C324-C35B-FAAB-0AD8B8348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64C4745-821A-5947-2A8C-E8B201C14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064A4-3906-4B39-BDCD-7A05CA044E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7110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01CB05-5789-4B77-DA1F-A1D773BA1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B49F99E-1836-123A-CB8B-922A3AF89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7F3DA-F092-41BF-8C2D-8608C53CD27F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D3CA3A7-2BD8-B1AF-665F-8A6F14F34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53C05FF-B15B-AF9B-C877-C1774E3FC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064A4-3906-4B39-BDCD-7A05CA044E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9771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C941DFC-46D4-017D-7C6D-7EB14915E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7F3DA-F092-41BF-8C2D-8608C53CD27F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B9D6789-2216-D598-DBC2-B775CF13F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949D516-97BA-41B9-086E-89B0A98DC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064A4-3906-4B39-BDCD-7A05CA044E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622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B1C3D5-AF1E-363D-5B9E-F5EE1A316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8D662F-EA06-B4AC-79FB-6164E788A5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5D9499F-D89D-1A4F-77C4-C1A71C2CCE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CE1843B-5E14-9C03-3AC0-5F8F35AC4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7F3DA-F092-41BF-8C2D-8608C53CD27F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31488E-F980-C981-C8C7-ADAB5F734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7D148D0-092F-DA35-0FC5-55DD7F899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064A4-3906-4B39-BDCD-7A05CA044E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184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BE18D6-41E3-6CA3-E283-FFFD8983F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7F3DF19-DBF8-ABDA-31E7-7EBC129FB7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62116F2-FC7B-2683-73F6-3693A05324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B20B565-E999-650A-94D5-768255382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7F3DA-F092-41BF-8C2D-8608C53CD27F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3AACE00-1593-D6F2-E3FF-854D056A2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E782E24-C987-8328-2341-BA64F91C4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064A4-3906-4B39-BDCD-7A05CA044E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0908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173A5F-EB4A-E48C-F39C-87F4BD95C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1075B9C-419B-B0F9-31DB-DFE7BC3C00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91B0CA-CB32-5899-2C78-AD35EC479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7F3DA-F092-41BF-8C2D-8608C53CD27F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E29E64-910D-4FEF-A075-E3E535839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0A1C36-D408-D9FB-9E86-726EB6B6D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064A4-3906-4B39-BDCD-7A05CA044E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0104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10193B5-5B28-C55E-3393-EFB2771B43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FEE75B8-3194-561B-24FE-13198B2566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CF15D5-13B3-E458-6462-DF86651C0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7F3DA-F092-41BF-8C2D-8608C53CD27F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21C219-7A88-2F09-62E6-29EAB2D91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E40DC3-1792-B531-13AA-8E4ED8DC6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064A4-3906-4B39-BDCD-7A05CA044E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6463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CF43B2A-5AE3-6987-E230-FEB3EF112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79CC6CF-38DF-ADD7-E772-A634268F50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7AF5DC7-0F26-635A-28C7-3B5D033E50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17F3DA-F092-41BF-8C2D-8608C53CD27F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1B6017-80C1-412F-F034-E2A675A31F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B7DBB5-16C8-BD1B-DA7D-122DEF9EB2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1064A4-3906-4B39-BDCD-7A05CA044E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3182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489CB791-E5E1-385F-7D25-EECAAC8604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C4FFE90-BE64-4838-29A8-A17744D8CB0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2835564" y="1524546"/>
            <a:ext cx="7947047" cy="20774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Homework5</a:t>
            </a:r>
            <a:b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</a:b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12412639_ WangSiyu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0263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A5B113-637E-89A0-BB76-041552E91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Q1 - Pruning Calculation in 8-City TSP</a:t>
            </a:r>
            <a:endParaRPr lang="zh-CN" alt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A8ECE31-EDA9-E5B3-3C54-B5D3B68B596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32463" y="1691561"/>
            <a:ext cx="11246669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Pruning Logic</a:t>
            </a:r>
            <a:r>
              <a:rPr kumimoji="0" lang="zh-CN" altLang="zh-CN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Condition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: Terminate a node if its 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Lower Bound (LB) &gt; 10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lang="en-US" altLang="zh-CN" sz="1050" dirty="0"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zh-CN" sz="3600" dirty="0"/>
              <a:t>LB Calculation: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zh-CN" sz="3600" dirty="0"/>
              <a:t>LB = </a:t>
            </a:r>
            <a:r>
              <a:rPr lang="en-US" altLang="zh-CN" sz="3600" dirty="0">
                <a:highlight>
                  <a:srgbClr val="FFFF00"/>
                </a:highlight>
              </a:rPr>
              <a:t>Current Path Length</a:t>
            </a:r>
            <a:r>
              <a:rPr lang="en-US" altLang="zh-CN" sz="3600" dirty="0"/>
              <a:t>+ </a:t>
            </a:r>
            <a:r>
              <a:rPr lang="en-US" altLang="zh-CN" sz="3600" dirty="0">
                <a:highlight>
                  <a:srgbClr val="FFFF00"/>
                </a:highlight>
              </a:rPr>
              <a:t>Distance to Farthest City</a:t>
            </a:r>
            <a:r>
              <a:rPr lang="en-US" altLang="zh-CN" sz="3600" dirty="0"/>
              <a:t>+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zh-CN" sz="3600" dirty="0">
                <a:highlight>
                  <a:srgbClr val="FFFF00"/>
                </a:highlight>
              </a:rPr>
              <a:t>Distance from Farthest to Start</a:t>
            </a:r>
            <a:r>
              <a:rPr lang="en-US" altLang="zh-CN" sz="3600" dirty="0"/>
              <a:t>.</a:t>
            </a:r>
          </a:p>
          <a:p>
            <a:pPr marL="0" lvl="0" indent="0">
              <a:lnSpc>
                <a:spcPct val="100000"/>
              </a:lnSpc>
              <a:buNone/>
            </a:pPr>
            <a:endParaRPr lang="en-US" altLang="zh-CN" sz="36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1103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20F324-01D3-089E-8751-F6B4481CB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Implementation</a:t>
            </a:r>
            <a:endParaRPr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A9745B-57E5-14B4-BC29-206B88C031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dirty="0"/>
          </a:p>
          <a:p>
            <a:r>
              <a:rPr lang="en-US" altLang="zh-CN" dirty="0"/>
              <a:t>- At Depth 2, two cities are visited from Start (City 0).</a:t>
            </a:r>
          </a:p>
          <a:p>
            <a:endParaRPr lang="en-US" altLang="zh-CN" dirty="0"/>
          </a:p>
          <a:p>
            <a:r>
              <a:rPr lang="en-US" altLang="zh-CN" dirty="0"/>
              <a:t>- Examine all 42 combinations (e.g., 0→1→2).</a:t>
            </a:r>
          </a:p>
          <a:p>
            <a:endParaRPr lang="en-US" altLang="zh-CN" dirty="0"/>
          </a:p>
          <a:p>
            <a:r>
              <a:rPr lang="en-US" altLang="zh-CN" dirty="0"/>
              <a:t>- Paths straying too far (e.g., towards City 3 or 7) often exceed the threshold of 10.</a:t>
            </a:r>
          </a:p>
          <a:p>
            <a:r>
              <a:rPr lang="en-US" altLang="zh-CN" dirty="0"/>
              <a:t>Goal: Identify and prune suboptimal paths early to significantly reduce tree size.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54794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14E226-F61C-84CE-6574-7BB79391D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Q2 - Lower Bound Estimation in Flow Shop Scheduling</a:t>
            </a:r>
            <a:endParaRPr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C0641F-DBBE-5BA0-89F4-19DF845BE9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b="1" dirty="0"/>
              <a:t>Objective</a:t>
            </a:r>
            <a:r>
              <a:rPr lang="en-US" altLang="zh-CN" dirty="0"/>
              <a:t>: Minimize the maximum completion time (</a:t>
            </a:r>
            <a:r>
              <a:rPr lang="en-US" altLang="zh-CN" b="1" dirty="0" err="1"/>
              <a:t>Makespan</a:t>
            </a:r>
            <a:r>
              <a:rPr lang="en-US" altLang="zh-CN" dirty="0"/>
              <a:t>).</a:t>
            </a:r>
          </a:p>
          <a:p>
            <a:pPr marL="0" indent="0">
              <a:buNone/>
            </a:pPr>
            <a:endParaRPr lang="en-US" altLang="zh-CN" dirty="0"/>
          </a:p>
          <a:p>
            <a:r>
              <a:rPr lang="en-US" altLang="zh-CN" dirty="0"/>
              <a:t>  </a:t>
            </a:r>
            <a:r>
              <a:rPr lang="en-US" altLang="zh-CN" b="1" dirty="0"/>
              <a:t>State</a:t>
            </a:r>
            <a:r>
              <a:rPr lang="en-US" altLang="zh-CN" dirty="0"/>
              <a:t>: Each node represents a partial schedule where $k$ jobs are sequenced.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1510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B9B3AD-3B84-545B-09C7-DAFF41009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Lower Bound Estimation Strategy</a:t>
            </a:r>
            <a:endParaRPr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FE63CF-250F-E961-ABE7-A8E292043D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1. </a:t>
            </a:r>
            <a:r>
              <a:rPr lang="en-US" altLang="zh-CN" b="1" dirty="0"/>
              <a:t>Scheduled Time</a:t>
            </a:r>
            <a:r>
              <a:rPr lang="en-US" altLang="zh-CN" dirty="0"/>
              <a:t>: Exact completion time for the k sequenced jobs on each machine.</a:t>
            </a:r>
          </a:p>
          <a:p>
            <a:endParaRPr lang="en-US" altLang="zh-CN" dirty="0"/>
          </a:p>
          <a:p>
            <a:r>
              <a:rPr lang="en-US" altLang="zh-CN" dirty="0"/>
              <a:t>2. </a:t>
            </a:r>
            <a:r>
              <a:rPr lang="en-US" altLang="zh-CN" b="1" dirty="0"/>
              <a:t>Unscheduled Processing</a:t>
            </a:r>
            <a:r>
              <a:rPr lang="en-US" altLang="zh-CN" dirty="0"/>
              <a:t>: Sum of minimum processing times for the remaining n-k jobs on a bottleneck machine.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70771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65F514-2DA8-89DF-36BE-E86C6C9C8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ED84C4-A55B-8EC7-250E-5BC41E678C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 3. </a:t>
            </a:r>
            <a:r>
              <a:rPr lang="en-US" altLang="zh-CN" b="1" dirty="0"/>
              <a:t>Tail Time</a:t>
            </a:r>
            <a:r>
              <a:rPr lang="en-US" altLang="zh-CN" dirty="0"/>
              <a:t>: Minimum theoretical time to complete remaining processes on subsequent machines after the bottleneck.</a:t>
            </a:r>
          </a:p>
          <a:p>
            <a:endParaRPr lang="en-US" altLang="zh-CN" dirty="0"/>
          </a:p>
          <a:p>
            <a:r>
              <a:rPr lang="en-US" altLang="zh-CN" b="1" dirty="0"/>
              <a:t>Decision</a:t>
            </a:r>
            <a:r>
              <a:rPr lang="en-US" altLang="zh-CN" dirty="0"/>
              <a:t>: If </a:t>
            </a:r>
            <a:r>
              <a:rPr lang="en-US" altLang="zh-CN" dirty="0">
                <a:highlight>
                  <a:srgbClr val="FFFF00"/>
                </a:highlight>
              </a:rPr>
              <a:t>LB &gt; Current Best </a:t>
            </a:r>
            <a:r>
              <a:rPr lang="en-US" altLang="zh-CN" dirty="0" err="1">
                <a:highlight>
                  <a:srgbClr val="FFFF00"/>
                </a:highlight>
              </a:rPr>
              <a:t>Makespan</a:t>
            </a:r>
            <a:r>
              <a:rPr lang="en-US" altLang="zh-CN" dirty="0"/>
              <a:t>, terminate the search at this node.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12923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4FD53A25-B2E0-40C2-A454-A9F95879FF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697046"/>
            <a:ext cx="9896876" cy="661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32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Q3 - Practical Limits of Branch and Bound (B&amp;B)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30634E3-53A1-E754-6CC4-756037D54EE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39199"/>
            <a:ext cx="8710718" cy="412420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32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Theoretical Complexity</a:t>
            </a:r>
            <a:r>
              <a:rPr kumimoji="0" lang="zh-CN" altLang="zh-CN" sz="3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:</a:t>
            </a: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3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An n-job problem has n! possible solutions.</a:t>
            </a:r>
            <a:endParaRPr kumimoji="0" lang="en-US" altLang="zh-CN" sz="32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CN" altLang="zh-CN" sz="32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32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n=14</a:t>
            </a:r>
            <a:r>
              <a:rPr kumimoji="0" lang="zh-CN" altLang="zh-CN" sz="3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: ~87 billion solutions </a:t>
            </a:r>
            <a:endParaRPr kumimoji="0" lang="en-US" altLang="zh-CN" sz="32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zh-CN" sz="3200" dirty="0">
                <a:solidFill>
                  <a:srgbClr val="333333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		</a:t>
            </a:r>
            <a:r>
              <a:rPr kumimoji="0" lang="zh-CN" altLang="zh-CN" sz="3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(Manageable with good algorithms).</a:t>
            </a:r>
            <a:endParaRPr kumimoji="0" lang="en-US" altLang="zh-CN" sz="32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zh-CN" altLang="zh-CN" sz="32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32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n=100</a:t>
            </a:r>
            <a:r>
              <a:rPr kumimoji="0" lang="zh-CN" altLang="zh-CN" sz="3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: Unrealistically large search space.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35721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98F67296-C76C-A6DF-6527-F8DB07F31C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19816" y="1216788"/>
            <a:ext cx="10752367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B&amp;B Efficiency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Reduces computation by pruning nodes </a:t>
            </a:r>
            <a:endParaRPr kumimoji="0" lang="en-US" altLang="zh-CN" sz="28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zh-CN" sz="2800" dirty="0">
                <a:solidFill>
                  <a:srgbClr val="333333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	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that cannot yield optimal results.</a:t>
            </a:r>
            <a:endParaRPr kumimoji="0" lang="en-US" altLang="zh-CN" sz="28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However, it cannot fully overcome the exponential growth of </a:t>
            </a:r>
            <a:endParaRPr kumimoji="0" lang="en-US" altLang="zh-CN" sz="28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zh-CN" sz="2800" dirty="0">
                <a:solidFill>
                  <a:srgbClr val="333333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	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NP-hard problems.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36866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A58691-E9A9-0169-C238-C0803A9E0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E834DA-3D2C-99F4-84DC-DA33CC1619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b="1" dirty="0"/>
              <a:t>Estimated Limits</a:t>
            </a:r>
            <a:r>
              <a:rPr lang="en-US" altLang="zh-CN" dirty="0"/>
              <a:t>:</a:t>
            </a:r>
          </a:p>
          <a:p>
            <a:endParaRPr lang="en-US" altLang="zh-CN" dirty="0"/>
          </a:p>
          <a:p>
            <a:r>
              <a:rPr lang="en-US" altLang="zh-CN" dirty="0"/>
              <a:t>- For m=10, absolute optimal solutions are typically achievable for n </a:t>
            </a:r>
            <a:r>
              <a:rPr lang="zh-CN" altLang="en-US" dirty="0"/>
              <a:t>≈</a:t>
            </a:r>
            <a:r>
              <a:rPr lang="en-US" altLang="zh-CN" dirty="0"/>
              <a:t> 20 --30 within a day.</a:t>
            </a:r>
          </a:p>
          <a:p>
            <a:endParaRPr lang="en-US" altLang="zh-CN" dirty="0"/>
          </a:p>
          <a:p>
            <a:r>
              <a:rPr lang="en-US" altLang="zh-CN" dirty="0"/>
              <a:t>- For larger n (e.g., 100), metaheuristics (Genetic Algorithms, SA, TS) must be used to find near-optimal solutions.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707981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373</Words>
  <Application>Microsoft Office PowerPoint</Application>
  <PresentationFormat>宽屏</PresentationFormat>
  <Paragraphs>49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等线</vt:lpstr>
      <vt:lpstr>等线 Light</vt:lpstr>
      <vt:lpstr>Arial</vt:lpstr>
      <vt:lpstr>Open Sans</vt:lpstr>
      <vt:lpstr>Office 主题​​</vt:lpstr>
      <vt:lpstr>Homework5 12412639_ WangSiyu </vt:lpstr>
      <vt:lpstr>Q1 - Pruning Calculation in 8-City TSP</vt:lpstr>
      <vt:lpstr>Implementation</vt:lpstr>
      <vt:lpstr>Q2 - Lower Bound Estimation in Flow Shop Scheduling</vt:lpstr>
      <vt:lpstr>Lower Bound Estimation Strategy</vt:lpstr>
      <vt:lpstr>PowerPoint 演示文稿</vt:lpstr>
      <vt:lpstr>Q3 - Practical Limits of Branch and Bound (B&amp;B) 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池 何</dc:creator>
  <cp:lastModifiedBy>池 何</cp:lastModifiedBy>
  <cp:revision>13</cp:revision>
  <dcterms:created xsi:type="dcterms:W3CDTF">2026-04-13T06:18:13Z</dcterms:created>
  <dcterms:modified xsi:type="dcterms:W3CDTF">2026-04-13T06:30:51Z</dcterms:modified>
</cp:coreProperties>
</file>